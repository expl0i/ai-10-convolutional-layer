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Напомните, что полносвязная сеть из занятия Б1.1 умеет решать XOR и рисовать сложные границы, а на прошлом занятии мы научились ее обучать. Сегодня переходим к картинкам. Скажите, что сверточные сети – главный инструмент компьютерного зрения, и именно на них работают системы, распознающие дорожные знаки и пешеходов в беспилотных автомобилях. К концу занятия каждый должен уметь посчитать свертку вручную, найти размер выхода и число параметров слоя и объяснить, почему свертка подходит для изображений лучше полносвязного слоя.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на доске клетчатую цифру и ее копию, сдвинутую на 3 клетки вправо. Спросите: «Для человека это одна и та же цифра. А для полносвязной сети?» (ожидаемый ответ: почти все 784 входа изменились, для сети это другая картинка). Вспомните, что полносвязный слой хранит отдельный вес для каждого пикселя: признак «вертикальная палочка» пришлось бы учить заново в каждой позиции. Спросите, как бы класс искал вертикальную линию на картинке вручную (обычно отвечают: «проходить маленьким окошком и проверять, есть ли линия в окне»). Это и есть свертка.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Идея раздела: одна маленькая таблица весов – ядро – проходит по всей картинке. В каждой позиции она делает то же, что нейрон: умножает числа на веса и складывает. Отличие только в том, что нейрон смотрит на все пиксели, а ядро – на маленькое окно, зато во всех местах по очереди.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схему: картинка 5 × 5, ядро 3 × 3 и выход 3 × 3. Положите ядро на левый верхний угол, перемножьте совпавшие числа и сложите – получится одно число выхода. Сдвиньте ядро на пиксель вправо – следующее число. Спросите: «Сколько позиций у ядра 3 × 3 по одной оси картинки 5 × 5?» (5 − 3 + 1 = 3). Выпишите формулу `S(i, j) = Σ I(i + m, j + n)·K(m, n)` и подчеркните: каждое число выхода показывает, насколько кусок картинки похож на ядро. Результат называется картой признаков. Связанное задание – К1 (GF 9.1; MIT L12).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Выпишите картинку: в каждой строке 0, 0, 0, 9, 9. Позиция 1 (столбцы 0–2): в каждой строке окна (0, 0, 0), произведение с (−1, 0, 1) дает 0, три строки – 0. Позиция 2 (столбцы 1–3): строка (0, 0, 9) дает −0 + 0 + 9 = 9, три строки – 27. Позиция 3 (столбцы 2–4): (0, 9, 9) дает −0 + 0 + 9 = 9, итого 27. Выход: в каждой строке [0, 27, 27]. Смысл ядра: «правый пиксель минус левый» – оно откликается на переход от темного к светлому. Дополнительное задание классу: посчитайте выход для картинки со строками [9, 9, 0, 0, 0] (ответ: [−27, −27, 0] – знак показывает направление перепада).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результат трех фильтров на учебной картинке 28 × 28. Размытие – все девять чисел по 1/9, это среднее по окну. Собель по вертикали – вариант нашего ядра, где центральная строка весит вдвое больше, так фильтр меньше реагирует на шум. Собель по горизонтали – тот же фильтр, транспонированный. Спросите: «Какой фильтр нашел подошву ботинка?» (горизонтальный – у подошвы горизонтальная граница). Главная мысль: в классическом зрении ядра придумывал человек, а в сверточной сети ядра – обучаемые веса, и сеть сама находит полезные узоры. Связанное задание – К6.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Предупредите путаницу, которая встретится в книгах. В математике у свертки ядро перед наложением переворачивается: `S(i, j) = Σ I(i − m, j − n)·K(m, n)`. Формула, которую мы используем, строго называется кросс-корреляцией. Покажите на примере: перевернутое ядро [1, 0, −1] дает на нашей картинке [0, −27, −27] – знак сменился. Почему это неважно для нейросетей: ядро обучается, и сеть просто выучит перевернутую версию. PyTorch в `F.conv2d` тоже считает кросс-корреляцию. В MIT L12 (Recitation) разобраны оба варианта для 1D и 2D.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От одной операции переходим к слою нейросети: нужно научиться управлять размером выхода, работать с цветными картинками и многими фильтрами сразу и посчитать, сколько у такого слоя параметров.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Выпишите формулу `n_out = ⌊(n + 2p − k)/s⌋ + 1` и разберите два параметра. Дополнение нулями (padding) p добавляет рамку из нулей: при k = 3 и p = 1 размер сохраняется. Шаг (stride) s – на сколько пикселей сдвигается ядро: при s = 2 выход примерно вдвое меньше. Посчитайте карточки вместе с классом: 5, k = 3 → 3; с p = 1 → 5; с p = 1, s = 2 → 3; 28, k = 3, s = 2 → 13 (деление с округлением вниз: последний столбец не попадает ни в одно окно). Предупредите ошибку: забыть умножить p на 2 – рамка добавляется с двух сторон. Задание К2 (GF 9.5; [CONVARITH]).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каналы на цветной картинке: это три слоя чисел R, G, B, тензор 3 × H × W. Ядро сверточного слоя трехмерное – 3 × k × k: оно проходит сразу сквозь все входные каналы и складывает все произведения в одно число. Один фильтр дает одну карту признаков, слой из C_out фильтров – C_out карт, то есть выходных каналов. Отсюда форма весов в PyTorch: `(C_out, C_in, k, k)`. Спросите: «Сколько входных каналов будет у второго сверточного слоя, если у первого 8 фильтров?» (8 – каждая карта признаков первого слоя становится каналом для второго). Задание К3.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Выведите формулу вместе с классом: у каждого из C_out фильтров C_in·k·k весов и одно смещение, итого `C_out·(C_in·k·k) + C_out`. Слой 1 → 8 с ядром 3 × 3: 8·9 + 8 = 80. Слой 3 → 16: 16·27 + 16 = 448. Полносвязный слой с таким же выходом, как у первого (28·28·8 = 6272 числа), имел бы 784·6272 + 6272 = 4 923 520 параметров. Подчеркните, что число параметров свертки не зависит от размера картинки. Дополнительное задание: сколько параметров у слоя 16 → 32 с ядром 5 × 5 (ответ: 32·400 + 32 = 12 832). Задание К2.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три идеи (GF 9.2). Локальность, или разреженные связи: каждое число выхода зависит только от окна k × k – соседние пиксели связаны сильнее далеких. Разделение параметров: одно ядро используется во всех позициях – отсюда 80 параметров вместо миллионов (GF 7.9.1). Эквивариантность к сдвигу: сдвинули картинку – карта признаков сдвинулась так же. Покажите на примере: граница сдвинулась на пиксель влево, и выход [0, 27, 27] превратился в [27, 27, 0]. Спросите: «Инвариантна ли свертка к повороту?» (нет: вертикальное ядро не найдет горизонтальную границу). Связанный вопрос – К1.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После свертки карта признаков по-прежнему большая, а каждое число видит только маленькое окно. Две идеи раздела: пулинг сжимает карту и делает ответ устойчивым к небольшим сдвигам, а стопка слоев постепенно расширяет область картинки, которую видит нейрон.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пример: карта 4 × 4 с числами от 0 до 15, окна 2 × 2 с шагом 2. Max pooling оставляет 5, 7, 13, 15; average pooling – средние 2.5, 4.5, 10.5, 12.5. Спросите: «Сколько обучаемых параметров у пулинга?» (ноль). Главная мысль: максимум отвечает на вопрос «есть ли признак где-то в этом окне», поэтому небольшой сдвиг почти не меняет ответ. На нашем примере: после сдвига карта изменилась, а максимум по ней остался 27 – это инвариантность. Разведите понятия: свертка эквивариантна (ответ сдвигается), пулинг поверх нее дает инвариантность (ответ не меняется). Задание К4 (GF 9.3).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на доске три вложенных квадрата. Рецептивное поле – кусок исходной картинки, от которого зависит число на карте. Первый слой 3 × 3 видит окно 3 × 3, второй – 5 × 5, третий – 7 × 7: `r = 1 + L(k − 1)`. Отсюда идея архитектуры VGG (занятие Б1.4): две свертки 3 × 3 видят столько же, сколько одна 5 × 5, но весов у них 18 против 25 на пару каналов, и между ними есть лишняя ReLU. Пулинг и шаг больше 1 ускоряют рост поля. Спросите: «Почему первые слои находят границы, а глубокие – части объекта?» (глубокие видят большую область и комбинируют простые признаки). Задание повышенной сложности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Сильные стороны: мало параметров, и их число не зависит от размера картинки; эквивариантность к сдвигу; слои строят иерархию признаков от границ к объектам; один и тот же слой работает с картинками любого размера. Слабые: свертка не инвариантна к повороту и масштабу – их приходится добывать аугментацией (Б2.4); первым слоям не хватает глобального контекста; вычислений много, хотя параметров мало, – нужны видеокарты и хитрые реализации вроде im2col; дополнение нулями создает искусственные границы у краев. Сравните с деревом решений и kNN из 9 класса: они не знали, какие пиксели соседние. Анонсируйте Б1.4: из сверток собирают целые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Скажите, что практика устроена как раньше: сначала свертка и пулинг пишутся руками на срезах тензоров и циклах, потом сверяются с `F.conv2d` и `F.max_pool2d`, а в конце свои фильтры применяются к настоящей картинке из FashionMNIST.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Разберите формы тензоров: пакет картинок `(N, C_in, H, W)`, веса `(C_out, C_in, k, k)`, смещения `(C_out,)`, выход `(N, C_out, H_out, W_out)`. Для нашего примера: `(1, 1, 5, 5)`, веса слоя из двух фильтров `(2, 1, 3, 3)`, выход `(1, 2, 3, 3)`. Выпишите формулу одного числа выхода: сумма по входным каналам и окну k × k плюс смещение фильтра. Предупредите ошибку: перепутать порядок осей весов – в PyTorch сначала выходные каналы, потом входные. Спросите: «Какая форма у `nn.Conv2d(3, 16, 5).weight`?» (16, 3, 5,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практики. К1 – свертка одной картинки одним ядром на циклах (главное задание); К2 – размер выхода и число параметров; К3 – полноценный сверточный слой с пакетом, каналами, шагом и дополнением нулями (главное задание); К4 – max pooling; К5 – сверка с `F.conv2d` и `F.max_pool2d`, расхождение меньше 1e−5; К6 – фильтры размытия и Собеля на картинке из FashionMNIST. Правило части: в К1–К4 внутри функций только срезы тензоров и циклы, без `nn.Conv2d` и `F.conv2d`.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объяснить, чем свертка лучше полносвязного слоя для картинок. Тема усвоена, если звучат слова «ядро», «общие веса», «карта признаков», «сдвиг», «рецептивное поле». Пройдитесь по шести пунктам и анонсируйте следующее занятие: соберем из сверток и пулинга целую сеть, сравним ее с полносвязной на FashionMNIST и разберем, как архитектуры росли от LeNet до ResNet.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4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097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4630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Свертка: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сеть ищет узор в любом месте картинки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406908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7" name="Image 1" descr="img4/ic_FaGraduationC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0" y="4187586"/>
            <a:ext cx="201900" cy="201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Инженерная школа «УникУм», КузГТУ им. Т. Ф. Горбачева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4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37760" y="822960"/>
            <a:ext cx="502920" cy="43891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5" name="Image 1" descr="img4/ic_FaQuoteLef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70" y="941466"/>
            <a:ext cx="201900" cy="2019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937760" y="14173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«Сдвиньте цифру на 3 пикселя. Для полносвязной сети это совсем другая картинка»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4937760" y="3017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научить сеть искать признак «вертикальная линия» в любом месте картинки, а не заново в каждой позиции? Ответ – операция свертки.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4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Операция свертки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скользит по картинке и считает похожесть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СВЕРТКА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Ядро скользит по картинке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5 × 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141732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88720" y="141732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887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554480" y="141732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5544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920240" y="14173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202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" y="178308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188720" y="178308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887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554480" y="178308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5544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920240" y="1783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9202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188720" y="214884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887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554480" y="2148840"/>
            <a:ext cx="365760" cy="365760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5544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920240" y="2148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9202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188720" y="2514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1887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554480" y="2514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5544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920240" y="2514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9202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188720" y="2880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1887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1554480" y="2880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5544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920240" y="2880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920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23317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⊛</a:t>
            </a:r>
            <a:endParaRPr lang="en-US" sz="2200" dirty="0"/>
          </a:p>
        </p:txBody>
      </p:sp>
      <p:sp>
        <p:nvSpPr>
          <p:cNvPr id="59" name="Text 56"/>
          <p:cNvSpPr txBox="1"/>
          <p:nvPr/>
        </p:nvSpPr>
        <p:spPr>
          <a:xfrm>
            <a:off x="2743200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3 × 3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2743200" y="178308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743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3108960" y="178308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1089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474720" y="178308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4747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2743200" y="214884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743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3108960" y="214884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31089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3474720" y="214884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4747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743200" y="251460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27432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3108960" y="251460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3108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3474720" y="251460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34747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39319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79" name="Text 76"/>
          <p:cNvSpPr txBox="1"/>
          <p:nvPr/>
        </p:nvSpPr>
        <p:spPr>
          <a:xfrm>
            <a:off x="4343400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3 × 3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4343400" y="1783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43434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4709160" y="1783080"/>
            <a:ext cx="365760" cy="365760"/>
          </a:xfrm>
          <a:prstGeom prst="rect">
            <a:avLst/>
          </a:prstGeom>
          <a:solidFill>
            <a:srgbClr val="B8AB84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7091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5074920" y="1783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50749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343400" y="2148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43434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4709160" y="2148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7091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5074920" y="214884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50749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4343400" y="2514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43434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4709160" y="2514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47091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5074920" y="2514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50749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98" name="Text 95"/>
          <p:cNvSpPr txBox="1"/>
          <p:nvPr/>
        </p:nvSpPr>
        <p:spPr>
          <a:xfrm>
            <a:off x="45720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S(i, j) = Σₘ Σₙ I(i + m, j + n) · K(m, n)</a:t>
            </a:r>
            <a:endParaRPr lang="en-US" sz="1400" dirty="0"/>
          </a:p>
        </p:txBody>
      </p:sp>
      <p:sp>
        <p:nvSpPr>
          <p:cNvPr id="99" name="Text 96"/>
          <p:cNvSpPr txBox="1"/>
          <p:nvPr/>
        </p:nvSpPr>
        <p:spPr>
          <a:xfrm>
            <a:off x="457200" y="38404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золотое окно дает одно число выхода – золотую клетку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594360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1" name="Text 98"/>
          <p:cNvSpPr txBox="1"/>
          <p:nvPr/>
        </p:nvSpPr>
        <p:spPr>
          <a:xfrm>
            <a:off x="6537960" y="12618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Ядро</a:t>
            </a:r>
            <a:endParaRPr lang="en-US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6537960" y="154533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Маленькая таблица весов k × k.</a:t>
            </a:r>
            <a:endParaRPr lang="en-US" sz="1050" dirty="0"/>
          </a:p>
        </p:txBody>
      </p:sp>
      <p:sp>
        <p:nvSpPr>
          <p:cNvPr id="103" name="Text 100"/>
          <p:cNvSpPr txBox="1"/>
          <p:nvPr/>
        </p:nvSpPr>
        <p:spPr>
          <a:xfrm>
            <a:off x="594360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4" name="Text 101"/>
          <p:cNvSpPr txBox="1"/>
          <p:nvPr/>
        </p:nvSpPr>
        <p:spPr>
          <a:xfrm>
            <a:off x="6537960" y="2039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Окно</a:t>
            </a:r>
            <a:endParaRPr lang="en-US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6537960" y="23225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Кусок картинки под ядром.</a:t>
            </a:r>
            <a:endParaRPr lang="en-US" sz="1050" dirty="0"/>
          </a:p>
        </p:txBody>
      </p:sp>
      <p:sp>
        <p:nvSpPr>
          <p:cNvPr id="106" name="Text 103"/>
          <p:cNvSpPr txBox="1"/>
          <p:nvPr/>
        </p:nvSpPr>
        <p:spPr>
          <a:xfrm>
            <a:off x="594360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07" name="Text 104"/>
          <p:cNvSpPr txBox="1"/>
          <p:nvPr/>
        </p:nvSpPr>
        <p:spPr>
          <a:xfrm>
            <a:off x="6537960" y="28163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число</a:t>
            </a:r>
            <a:endParaRPr lang="en-US" sz="1350" dirty="0"/>
          </a:p>
        </p:txBody>
      </p:sp>
      <p:sp>
        <p:nvSpPr>
          <p:cNvPr id="108" name="Text 105"/>
          <p:cNvSpPr txBox="1"/>
          <p:nvPr/>
        </p:nvSpPr>
        <p:spPr>
          <a:xfrm>
            <a:off x="6537960" y="30998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Поэлементно умножить и сложить.</a:t>
            </a:r>
            <a:endParaRPr lang="en-US" sz="1050" dirty="0"/>
          </a:p>
        </p:txBody>
      </p:sp>
      <p:sp>
        <p:nvSpPr>
          <p:cNvPr id="109" name="Text 106"/>
          <p:cNvSpPr txBox="1"/>
          <p:nvPr/>
        </p:nvSpPr>
        <p:spPr>
          <a:xfrm>
            <a:off x="594360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10" name="Text 107"/>
          <p:cNvSpPr txBox="1"/>
          <p:nvPr/>
        </p:nvSpPr>
        <p:spPr>
          <a:xfrm>
            <a:off x="653796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признаков</a:t>
            </a:r>
            <a:endParaRPr lang="en-US" sz="1350" dirty="0"/>
          </a:p>
        </p:txBody>
      </p:sp>
      <p:sp>
        <p:nvSpPr>
          <p:cNvPr id="111" name="Text 108"/>
          <p:cNvSpPr txBox="1"/>
          <p:nvPr/>
        </p:nvSpPr>
        <p:spPr>
          <a:xfrm>
            <a:off x="6537960" y="38770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числа по всем позициям.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Ядро [−1, 0, 1] ищет границу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256032" cy="25603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216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окно: столбцы 0–2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426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(0, 0, 0) · (−1, 0, 1) = 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56032" cy="25603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0" y="1216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окно: столбцы 1–3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1426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(0, 0, 9) · (−1, 0, 1) = 9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1280160"/>
            <a:ext cx="256032" cy="25603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216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окно: столбцы 2–4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426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(0, 9, 9) · (−1, 0, 1) = 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148840"/>
            <a:ext cx="2468880" cy="2377440"/>
          </a:xfrm>
          <a:prstGeom prst="roundRect">
            <a:avLst>
              <a:gd name="adj" fmla="val 230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ОДНА СТРОКА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0·(−1) + 0·0 + 9·1 = 9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= «правый пиксель минус левый»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0" y="2148840"/>
            <a:ext cx="2103120" cy="2377440"/>
          </a:xfrm>
          <a:prstGeom prst="roundRect">
            <a:avLst>
              <a:gd name="adj" fmla="val 26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2900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ТРИ СТРОКИ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+ 9 + 9 = 27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4290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строки картинки одинаковы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0" y="2148840"/>
            <a:ext cx="3108960" cy="2377440"/>
          </a:xfrm>
          <a:prstGeom prst="roundRect">
            <a:avLst>
              <a:gd name="adj" fmla="val 2308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1500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КАРТА ПРИЗНАКОВ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71500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каждой строке выхода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[0, 27, 27]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57150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 по всей карте: 27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Ядро решает, что искать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pic>
        <p:nvPicPr>
          <p:cNvPr id="7" name="Image 0" descr="img4/f_or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920240" cy="1920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Исходная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547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учебная картинка 28 × 28</a:t>
            </a:r>
            <a:endParaRPr lang="en-US" sz="950" dirty="0"/>
          </a:p>
        </p:txBody>
      </p:sp>
      <p:pic>
        <p:nvPicPr>
          <p:cNvPr id="10" name="Image 1" descr="img4/f_bl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88720"/>
            <a:ext cx="1920240" cy="19202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5603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Размытие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2560320" y="3547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числа 1/9 – среднее окна</a:t>
            </a:r>
            <a:endParaRPr lang="en-US" sz="950" dirty="0"/>
          </a:p>
        </p:txBody>
      </p:sp>
      <p:pic>
        <p:nvPicPr>
          <p:cNvPr id="13" name="Image 2" descr="img4/f_s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1920240" cy="1920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6344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Собель: вертикаль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4663440" y="3547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[−1 0 1], [−2 0 2], [−1 0 1]</a:t>
            </a:r>
            <a:endParaRPr lang="en-US" sz="950" dirty="0"/>
          </a:p>
        </p:txBody>
      </p:sp>
      <p:pic>
        <p:nvPicPr>
          <p:cNvPr id="16" name="Image 3" descr="img4/f_s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188720"/>
            <a:ext cx="1920240" cy="19202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76656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Собель: горизонталь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6766560" y="3547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фильтр, транспонированный</a:t>
            </a:r>
            <a:endParaRPr lang="en-US" sz="950" dirty="0"/>
          </a:p>
        </p:txBody>
      </p:sp>
      <p:sp>
        <p:nvSpPr>
          <p:cNvPr id="19" name="Text 1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Золотой – отклик «темно → светло», светло-серый – «светло → темно». В сети ядра – обучаемые веса.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КРОСС-КОРРЕЛЯЦИЯ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сетях «свертка» – без переворота ядра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389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МАТЕМАТИКЕ – СВЕРТКА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S(i, j) = Σ I(i − m, j − n)·K(m, n)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переворачивается; ядро [1, 0, −1] дает на примере [0, −27, −27]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23444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1389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НЕЙРОСЕТЯХ – КРОСС-КОРРЕЛЯЦИЯ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S(i, j) = Σ I(i + m, j + n)·K(m, n)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переворота; так считает F.conv2d, так пишем и мы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4747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61645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7" name="Image 0" descr="img4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725083"/>
            <a:ext cx="185075" cy="18507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25880" y="358444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неважно: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обучается, и сеть просто выучит перевернутую версию. По традиции обе операции называют сверткой.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4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Сверточный слой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Каналы, шаг и дополнение нулями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ВЫХОДА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Размер выхода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502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n_out = ⌊(n + 2p − k) / s⌋ + 1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932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– дополнение нулями, s – шаг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5, k = 3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дополнения, шаг 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0" y="132588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74320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1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сохранился («same»)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132588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4632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1, s = 2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– примерно вдвое меньше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66560" y="132588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4944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28, k = 3, s = 2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⌊25 / 2⌋ + 1: край не попал в окно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" y="343357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7" name="Image 0" descr="img4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542203"/>
            <a:ext cx="185075" cy="18507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325880" y="340156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при шаге 1 сохранить размер, берут p = (k − 1) / 2. Рамка добавляется с двух сторон – поэтому 2p.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Фильтр проходит сквозь все каналы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97280" y="192024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E6E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69164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B8AB8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46304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A9AA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429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G, B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вход 3 × H × W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⊛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429000" y="2240280"/>
            <a:ext cx="548640" cy="548640"/>
          </a:xfrm>
          <a:prstGeom prst="rect">
            <a:avLst/>
          </a:prstGeom>
          <a:solidFill>
            <a:srgbClr val="F2F1ED"/>
          </a:solidFill>
          <a:ln w="15240">
            <a:solidFill>
              <a:srgbClr val="8F82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2103120"/>
            <a:ext cx="548640" cy="548640"/>
          </a:xfrm>
          <a:prstGeom prst="rect">
            <a:avLst/>
          </a:prstGeom>
          <a:solidFill>
            <a:srgbClr val="F2F1ED"/>
          </a:solidFill>
          <a:ln w="15240">
            <a:solidFill>
              <a:srgbClr val="8F82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4680" y="1965960"/>
            <a:ext cx="548640" cy="548640"/>
          </a:xfrm>
          <a:prstGeom prst="rect">
            <a:avLst/>
          </a:prstGeom>
          <a:solidFill>
            <a:srgbClr val="F2F1ED"/>
          </a:solidFill>
          <a:ln w="15240">
            <a:solidFill>
              <a:srgbClr val="8F826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2608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фильтр 3 × k × k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1605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572000" y="1783080"/>
            <a:ext cx="1097280" cy="1097280"/>
          </a:xfrm>
          <a:prstGeom prst="rect">
            <a:avLst/>
          </a:prstGeom>
          <a:solidFill>
            <a:srgbClr val="B8AB84"/>
          </a:solidFill>
          <a:ln w="15240">
            <a:solidFill>
              <a:srgbClr val="8F826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89120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одна карта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12618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 C_in × H × W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154533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– слои чисел.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20391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Фильтр C_in × k × k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23225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по всем каналам.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03504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629400" y="2816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C_out фильтров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6629400" y="30998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Дают C_out карт признаков.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веса слоя: (C_out, C_in, k, k)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 сверточного слоя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C_out·(C_in·k·k) + C_out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8, ядро 3 × 3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9 + 8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6459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16, ядро 3 × 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448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27 + 16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16459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полносвязный 784 → 6272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4 923 520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выход 28 · 28 · 8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68503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2" name="Image 0" descr="img4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793663"/>
            <a:ext cx="185075" cy="18507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25880" y="3675888"/>
            <a:ext cx="7086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параметров свертки не зависит от размера картинки – одно ядро используется во всех позициях.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ИДЕИ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свертка подходит для картинок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8404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371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СДВИНУЛАСЬ НА ПИКСЕЛЬ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417320" y="1737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83080" y="1737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830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48840" y="1737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488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14600" y="1737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146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80360" y="173736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803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783080" y="219456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830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48840" y="219456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488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514600" y="219456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5146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85800" y="2743200"/>
            <a:ext cx="33832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417320" y="2926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4173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783080" y="2926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783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148840" y="2926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1488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514600" y="2926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5146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880360" y="292608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8803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85800" y="3429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783080" y="338328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783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148840" y="338328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1488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2514600" y="3383280"/>
            <a:ext cx="365760" cy="36576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5146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858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сдвинулся так же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663440" y="13441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663440" y="1344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53035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Локальность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5303520" y="1618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число выхода видит только окно k × k.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663440" y="221284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663440" y="22128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530352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Разделение параметров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5303520" y="24871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ядро во всех позициях: 80 весов вместо миллионов.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663440" y="308152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663440" y="30815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53035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Эквивариантность к сдвигу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5303520" y="33558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Сдвинули вход – карта признаков сдвинулась так же.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4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Пулинг и рецептивное поле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Сжать карту и увидеть больше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ПУЛИНГ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Пулинг оставляет сильнейший отклик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4 × 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1248" y="1417320"/>
            <a:ext cx="384048" cy="384048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25296" y="141732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2529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609344" y="141732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0934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1801368"/>
            <a:ext cx="384048" cy="384048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41248" y="1801368"/>
            <a:ext cx="384048" cy="384048"/>
          </a:xfrm>
          <a:prstGeom prst="rect">
            <a:avLst/>
          </a:prstGeom>
          <a:solidFill>
            <a:srgbClr val="EAE4D2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225296" y="180136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25296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609344" y="180136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09344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1854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41248" y="21854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1248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225296" y="21854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225296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609344" y="21854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60934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256946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41248" y="256946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124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225296" y="256946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225296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609344" y="256946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609344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21031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2651760" y="1188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× 2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651760" y="1801368"/>
            <a:ext cx="384048" cy="384048"/>
          </a:xfrm>
          <a:prstGeom prst="rect">
            <a:avLst/>
          </a:prstGeom>
          <a:solidFill>
            <a:srgbClr val="B8AB84"/>
          </a:solidFill>
          <a:ln w="19050">
            <a:solidFill>
              <a:srgbClr val="8F826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65176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035808" y="180136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0358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2651760" y="21854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65176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035808" y="218541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035808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3657600" y="11887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 × 2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3657600" y="1801368"/>
            <a:ext cx="548640" cy="54864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65760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206240" y="1801368"/>
            <a:ext cx="548640" cy="54864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206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657600" y="2350008"/>
            <a:ext cx="548640" cy="54864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65760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206240" y="2350008"/>
            <a:ext cx="548640" cy="54864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2062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45720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2 × 2 с шагом 2: из четырех чисел остается одно. Обучаемых параметров – ноль.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5486400" y="129844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48640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1264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Сжимает карту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6126480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Вчетверо меньше чисел для следующих слоев.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486400" y="216712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486400" y="2167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61264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Инвариантность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6126480" y="2441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Сдвинули границу – max по карте остался 27.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486400" y="30358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486400" y="3035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612648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</a:t>
            </a:r>
            <a:endParaRPr lang="en-US" sz="1300" dirty="0"/>
          </a:p>
        </p:txBody>
      </p:sp>
      <p:sp>
        <p:nvSpPr>
          <p:cNvPr id="71" name="Text 68"/>
          <p:cNvSpPr txBox="1"/>
          <p:nvPr/>
        </p:nvSpPr>
        <p:spPr>
          <a:xfrm>
            <a:off x="6126480" y="3310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Теряется точное место признака в окне.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731520" y="385876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Эквивариантность и инвариантность: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свертка сдвигает ответ вместе с входом, пулинг поверх нее делает ответ неизменным.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РЕЦЕПТИВНОЕ ПОЛЕ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Нейрон видит все больше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502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1 + L·(k − 1)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932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слоев с ядром k и шагом 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53312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91056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0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66544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04288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42032" y="132588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15636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156362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" y="156362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156362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91056" y="156362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0" y="156362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66544" y="156362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304288" y="156362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542032" y="156362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1801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77824" y="180136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15568" y="1801368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53312" y="1801368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591056" y="1801368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28800" y="1801368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066544" y="1801368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04288" y="180136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42032" y="1801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0080" y="20391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77824" y="2039112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15568" y="2039112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53312" y="2039112"/>
            <a:ext cx="237744" cy="237744"/>
          </a:xfrm>
          <a:prstGeom prst="rect">
            <a:avLst/>
          </a:prstGeom>
          <a:solidFill>
            <a:srgbClr val="B8AB84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591056" y="2039112"/>
            <a:ext cx="237744" cy="237744"/>
          </a:xfrm>
          <a:prstGeom prst="rect">
            <a:avLst/>
          </a:prstGeom>
          <a:solidFill>
            <a:srgbClr val="B8AB84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828800" y="2039112"/>
            <a:ext cx="237744" cy="237744"/>
          </a:xfrm>
          <a:prstGeom prst="rect">
            <a:avLst/>
          </a:prstGeom>
          <a:solidFill>
            <a:srgbClr val="B8AB84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066544" y="2039112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04288" y="2039112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542032" y="20391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080" y="22768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77824" y="2276856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115568" y="2276856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353312" y="2276856"/>
            <a:ext cx="237744" cy="237744"/>
          </a:xfrm>
          <a:prstGeom prst="rect">
            <a:avLst/>
          </a:prstGeom>
          <a:solidFill>
            <a:srgbClr val="B8AB84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591056" y="2276856"/>
            <a:ext cx="237744" cy="237744"/>
          </a:xfrm>
          <a:prstGeom prst="rect">
            <a:avLst/>
          </a:prstGeom>
          <a:solidFill>
            <a:srgbClr val="1C1C2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828800" y="2276856"/>
            <a:ext cx="237744" cy="237744"/>
          </a:xfrm>
          <a:prstGeom prst="rect">
            <a:avLst/>
          </a:prstGeom>
          <a:solidFill>
            <a:srgbClr val="B8AB84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066544" y="2276856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304288" y="2276856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542032" y="22768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0080" y="251460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77824" y="2514600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15568" y="2514600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353312" y="2514600"/>
            <a:ext cx="237744" cy="237744"/>
          </a:xfrm>
          <a:prstGeom prst="rect">
            <a:avLst/>
          </a:prstGeom>
          <a:solidFill>
            <a:srgbClr val="B8AB84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591056" y="2514600"/>
            <a:ext cx="237744" cy="237744"/>
          </a:xfrm>
          <a:prstGeom prst="rect">
            <a:avLst/>
          </a:prstGeom>
          <a:solidFill>
            <a:srgbClr val="B8AB84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828800" y="2514600"/>
            <a:ext cx="237744" cy="237744"/>
          </a:xfrm>
          <a:prstGeom prst="rect">
            <a:avLst/>
          </a:prstGeom>
          <a:solidFill>
            <a:srgbClr val="B8AB84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066544" y="2514600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304288" y="2514600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542032" y="251460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40080" y="275234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77824" y="275234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115568" y="2752344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353312" y="2752344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591056" y="2752344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828800" y="2752344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066544" y="2752344"/>
            <a:ext cx="237744" cy="237744"/>
          </a:xfrm>
          <a:prstGeom prst="rect">
            <a:avLst/>
          </a:prstGeom>
          <a:solidFill>
            <a:srgbClr val="D8CFB3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304288" y="2752344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542032" y="275234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40080" y="299008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77824" y="299008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115568" y="299008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353312" y="299008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591056" y="299008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828800" y="299008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066544" y="299008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304288" y="2990088"/>
            <a:ext cx="237744" cy="237744"/>
          </a:xfrm>
          <a:prstGeom prst="rect">
            <a:avLst/>
          </a:prstGeom>
          <a:solidFill>
            <a:srgbClr val="EAE4D2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542032" y="299008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40080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77824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115568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353312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591056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828800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066544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304288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2542032" y="322783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6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45720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темный – нейрон 3-го слоя; оттенки – поле после 1, 2, 3 слоев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3246120" y="1325880"/>
            <a:ext cx="16916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2" name="Text 89"/>
          <p:cNvSpPr txBox="1"/>
          <p:nvPr/>
        </p:nvSpPr>
        <p:spPr>
          <a:xfrm>
            <a:off x="34290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слой 3 × 3</a:t>
            </a:r>
            <a:endParaRPr lang="en-US" sz="1000" dirty="0"/>
          </a:p>
        </p:txBody>
      </p:sp>
      <p:sp>
        <p:nvSpPr>
          <p:cNvPr id="93" name="Text 90"/>
          <p:cNvSpPr txBox="1"/>
          <p:nvPr/>
        </p:nvSpPr>
        <p:spPr>
          <a:xfrm>
            <a:off x="342900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3</a:t>
            </a:r>
            <a:endParaRPr lang="en-US" sz="2600" dirty="0"/>
          </a:p>
        </p:txBody>
      </p:sp>
      <p:sp>
        <p:nvSpPr>
          <p:cNvPr id="94" name="Shape 91"/>
          <p:cNvSpPr/>
          <p:nvPr/>
        </p:nvSpPr>
        <p:spPr>
          <a:xfrm>
            <a:off x="5074920" y="1325880"/>
            <a:ext cx="16916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5" name="Text 92"/>
          <p:cNvSpPr txBox="1"/>
          <p:nvPr/>
        </p:nvSpPr>
        <p:spPr>
          <a:xfrm>
            <a:off x="52578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слоя 3 × 3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525780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5</a:t>
            </a:r>
            <a:endParaRPr lang="en-US" sz="2600" dirty="0"/>
          </a:p>
        </p:txBody>
      </p:sp>
      <p:sp>
        <p:nvSpPr>
          <p:cNvPr id="97" name="Shape 94"/>
          <p:cNvSpPr/>
          <p:nvPr/>
        </p:nvSpPr>
        <p:spPr>
          <a:xfrm>
            <a:off x="6903720" y="1325880"/>
            <a:ext cx="1691640" cy="1463040"/>
          </a:xfrm>
          <a:prstGeom prst="roundRect">
            <a:avLst>
              <a:gd name="adj" fmla="val 375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70866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слоя 3 × 3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708660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7</a:t>
            </a:r>
            <a:endParaRPr lang="en-US" sz="2600" dirty="0"/>
          </a:p>
        </p:txBody>
      </p:sp>
      <p:sp>
        <p:nvSpPr>
          <p:cNvPr id="100" name="Shape 97"/>
          <p:cNvSpPr/>
          <p:nvPr/>
        </p:nvSpPr>
        <p:spPr>
          <a:xfrm>
            <a:off x="3246120" y="3017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3520440" y="3127248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VGG: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свертки 3 × 3 видят как одна 5 × 5, но весов 18 против 25 и между ними лишняя ReLU. Первые слои находят границы, глубокие – части объекта.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3337560"/>
            <a:ext cx="9144000" cy="18059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137160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2" name="Image 0" descr="img4/ic_Fa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90" y="1490106"/>
            <a:ext cx="201900" cy="201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стороны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параметров, не зависят от размера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Эквивариантность к сдвигу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Иерархия: от границ к частям объекта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картинкой любого размера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92040" y="137160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7" name="Image 1" descr="img4/ic_FaTime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50" y="1490106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стороны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инвариантна к повороту и масштабу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Первым слоям не хватает контекста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весов, но много вычислений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 нулями дает ложные границы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сверток, ReLU и пулинга собирают целые сети – LeNet, VGG, ResNet (занятие Б1.4).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4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свертку на Python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№1, часть 3К: только срезы тензоров и циклы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ДАННЫХ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хранить сверточный слой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1737360"/>
          </a:xfrm>
          <a:prstGeom prst="roundRect">
            <a:avLst>
              <a:gd name="adj" fmla="val 3158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533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ТЕНЗОРОВ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    (N, C_in, H, W)     (1, 1, 5, 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(C_out, C_in, k, k) (2, 1, 3,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   (C_out,)            (2,)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   (N, C_out, H', W')  (1, 2, 3, 3)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1188720"/>
            <a:ext cx="4069080" cy="1737360"/>
          </a:xfrm>
          <a:prstGeom prst="roundRect">
            <a:avLst>
              <a:gd name="adj" fmla="val 3158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3533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ЧИСЛО ВЫХОДА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64592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out[n, o, i, j]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сумма по c, m, 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x[n, c, i·s + m, j·s + 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· weight[o, c, m, 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bias[o]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выходные каналы, потом входные. </a:t>
            </a:r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nn.Conv2d(3, 16, 5).weight имеет форму (16, 3, 5, 5); окно для всех картинок и каналов – один срез тензора.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один сверточный слой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conv2d_single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Свертка на двух циклах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50792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out_size · conv_params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050792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выхода и параметры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9904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72784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72784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К3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67144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867144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Пакет, каналы, шаг, нули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К4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max_pool2d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73552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56432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56432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К5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050792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max_diff_with_torch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050792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 F.conv2d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89904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2784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72784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К6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867144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make_filters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67144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Размытие и Собель на FashionMNIST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К1–К4 – только срезы тензоров и циклы, без nn.Conv2d и F.conv2d. Расхождение с PyTorch – меньше 1e−5.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65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66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скользит по картинке; каждое число выхода – похожесть окна на ядро.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06324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выхода: ⌊(n + 2p − k) / s⌋ + 1.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Каналы: фильтр C_in × k × k, слой из C_out фильтров дает C_out карт.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Параметров C_out·(C_in·k·k) + C_out – не зависит от размера картинки.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Локальность, общие веса, эквивариантность к сдвигу.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Пулинг сжимает карту; с глубиной растет рецептивное поле.</a:t>
            </a:r>
            <a:endParaRPr lang="en-US" sz="1050" dirty="0"/>
          </a:p>
        </p:txBody>
      </p:sp>
      <p:pic>
        <p:nvPicPr>
          <p:cNvPr id="17" name="Image 0" descr="img4/hex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502920"/>
            <a:ext cx="2926080" cy="32369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83880" y="374904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Свертка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2026-09-24T02:48:33Z</dcterms:created>
  <dcterms:modified xsi:type="dcterms:W3CDTF">2026-09-24T02:48:33Z</dcterms:modified>
</cp:coreProperties>
</file>